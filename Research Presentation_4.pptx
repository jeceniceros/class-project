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8" r:id="rId7"/>
    <p:sldId id="269" r:id="rId8"/>
    <p:sldId id="270" r:id="rId9"/>
    <p:sldId id="263" r:id="rId10"/>
    <p:sldId id="264" r:id="rId11"/>
    <p:sldId id="265" r:id="rId12"/>
    <p:sldId id="266" r:id="rId13"/>
    <p:sldId id="267" r:id="rId14"/>
    <p:sldId id="262" r:id="rId15"/>
    <p:sldId id="274" r:id="rId16"/>
    <p:sldId id="273" r:id="rId17"/>
    <p:sldId id="271" r:id="rId18"/>
    <p:sldId id="275" r:id="rId19"/>
    <p:sldId id="27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pPr eaLnBrk="1" latinLnBrk="0" hangingPunct="1"/>
            <a:fld id="{C3F416CD-67A3-4CF0-A210-F6AF31AC147F}" type="datetimeFigureOut">
              <a:rPr lang="en-US" smtClean="0"/>
              <a:pPr eaLnBrk="1" latinLnBrk="0" hangingPunct="1"/>
              <a:t>3/22/2017</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kumimoji="0"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pPr algn="l" eaLnBrk="1" latinLnBrk="0" hangingPunct="1"/>
            <a:fld id="{C3F416CD-67A3-4CF0-A210-F6AF31AC147F}" type="datetimeFigureOut">
              <a:rPr lang="en-US" smtClean="0"/>
              <a:pPr algn="l" eaLnBrk="1" latinLnBrk="0" hangingPunct="1"/>
              <a:t>3/22/2017</a:t>
            </a:fld>
            <a:endParaRPr lang="en-US"/>
          </a:p>
        </p:txBody>
      </p:sp>
      <p:sp>
        <p:nvSpPr>
          <p:cNvPr id="27" name="Slide Number Placeholder 26"/>
          <p:cNvSpPr>
            <a:spLocks noGrp="1"/>
          </p:cNvSpPr>
          <p:nvPr>
            <p:ph type="sldNum" sz="quarter" idx="11"/>
          </p:nvPr>
        </p:nvSpPr>
        <p:spPr/>
        <p:txBody>
          <a:bodyPr rtlCol="0"/>
          <a:lstStyle/>
          <a:p>
            <a:pPr algn="r" eaLnBrk="1" latinLnBrk="0" hangingPunct="1"/>
            <a:fld id="{96652B35-718D-4E28-AFEB-B694A3B357E8}" type="slidenum">
              <a:rPr kumimoji="0" lang="en-US" smtClean="0"/>
              <a:pPr algn="r" eaLnBrk="1" latinLnBrk="0" hangingPunct="1"/>
              <a:t>‹#›</a:t>
            </a:fld>
            <a:endParaRPr kumimoji="0" lang="en-US"/>
          </a:p>
        </p:txBody>
      </p:sp>
      <p:sp>
        <p:nvSpPr>
          <p:cNvPr id="28" name="Footer Placeholder 27"/>
          <p:cNvSpPr>
            <a:spLocks noGrp="1"/>
          </p:cNvSpPr>
          <p:nvPr>
            <p:ph type="ftr" sz="quarter" idx="12"/>
          </p:nvPr>
        </p:nvSpPr>
        <p:spPr/>
        <p:txBody>
          <a:bodyPr rtlCol="0"/>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pPr eaLnBrk="1" latinLnBrk="0" hangingPunct="1"/>
            <a:fld id="{C3F416CD-67A3-4CF0-A210-F6AF31AC147F}" type="datetimeFigureOut">
              <a:rPr lang="en-US" smtClean="0"/>
              <a:pPr eaLnBrk="1" latinLnBrk="0" hangingPunct="1"/>
              <a:t>3/22/2017</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kumimoji="0" lang="en-US" dirty="0"/>
          </a:p>
        </p:txBody>
      </p:sp>
      <p:sp>
        <p:nvSpPr>
          <p:cNvPr id="5" name="Slide Number Placeholder 4"/>
          <p:cNvSpPr>
            <a:spLocks noGrp="1"/>
          </p:cNvSpPr>
          <p:nvPr>
            <p:ph type="sldNum" sz="quarter" idx="12"/>
          </p:nvPr>
        </p:nvSpPr>
        <p:spPr>
          <a:xfrm>
            <a:off x="8174736" y="2272"/>
            <a:ext cx="762000" cy="365760"/>
          </a:xfrm>
        </p:spPr>
        <p:txBody>
          <a:bodyPr/>
          <a:lstStyle/>
          <a:p>
            <a:fld id="{96652B35-718D-4E28-AFEB-B694A3B357E8}" type="slidenum">
              <a:rPr kumimoji="0" lang="en-US" smtClean="0"/>
              <a:pPr eaLnBrk="1" latinLnBrk="0" hangingPunct="1"/>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C3F416CD-67A3-4CF0-A210-F6AF31AC147F}" type="datetimeFigureOut">
              <a:rPr lang="en-US" smtClean="0"/>
              <a:pPr eaLnBrk="1" latinLnBrk="0" hangingPunct="1"/>
              <a:t>3/22/2017</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6652B35-718D-4E28-AFEB-B694A3B357E8}" type="slidenum">
              <a:rPr kumimoji="0" lang="en-US" smtClean="0"/>
              <a:pPr eaLnBrk="1" latinLnBrk="0" hangingPunct="1"/>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pPr algn="l" eaLnBrk="1" latinLnBrk="0" hangingPunct="1"/>
            <a:fld id="{C3F416CD-67A3-4CF0-A210-F6AF31AC147F}" type="datetimeFigureOut">
              <a:rPr lang="en-US" smtClean="0"/>
              <a:pPr algn="l" eaLnBrk="1" latinLnBrk="0" hangingPunct="1"/>
              <a:t>3/22/2017</a:t>
            </a:fld>
            <a:endParaRPr lang="en-US" sz="800" dirty="0">
              <a:solidFill>
                <a:schemeClr val="accent2"/>
              </a:solidFill>
            </a:endParaRPr>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pPr algn="r" eaLnBrk="1" latinLnBrk="0" hangingPunct="1"/>
            <a:endParaRPr kumimoji="0" lang="en-US" sz="800" dirty="0">
              <a:solidFill>
                <a:schemeClr val="accent2"/>
              </a:solidFill>
            </a:endParaRPr>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pPr algn="r" eaLnBrk="1" latinLnBrk="0" hangingPunct="1"/>
            <a:fld id="{96652B35-718D-4E28-AFEB-B694A3B357E8}" type="slidenum">
              <a:rPr kumimoji="0" lang="en-US" smtClean="0"/>
              <a:pPr algn="r" eaLnBrk="1" latinLnBrk="0" hangingPunct="1"/>
              <a:t>‹#›</a:t>
            </a:fld>
            <a:endParaRPr kumimoji="0" lang="en-US" sz="18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28700" y="1447800"/>
            <a:ext cx="7391400" cy="2003425"/>
          </a:xfrm>
        </p:spPr>
        <p:txBody>
          <a:bodyPr>
            <a:normAutofit fontScale="90000"/>
          </a:bodyPr>
          <a:lstStyle/>
          <a:p>
            <a:pPr algn="ctr"/>
            <a:r>
              <a:rPr lang="en-US" dirty="0" smtClean="0"/>
              <a:t>Emergent Research </a:t>
            </a:r>
            <a:br>
              <a:rPr lang="en-US" dirty="0" smtClean="0"/>
            </a:br>
            <a:r>
              <a:rPr lang="en-US" sz="2700" dirty="0" smtClean="0"/>
              <a:t>in</a:t>
            </a:r>
            <a:r>
              <a:rPr lang="en-US" dirty="0" smtClean="0"/>
              <a:t> </a:t>
            </a:r>
            <a:br>
              <a:rPr lang="en-US" dirty="0" smtClean="0"/>
            </a:br>
            <a:r>
              <a:rPr lang="en-US" dirty="0" smtClean="0"/>
              <a:t>Environmental Science</a:t>
            </a:r>
            <a:endParaRPr lang="en-US" dirty="0"/>
          </a:p>
        </p:txBody>
      </p:sp>
      <p:sp>
        <p:nvSpPr>
          <p:cNvPr id="3" name="Subtitle 2"/>
          <p:cNvSpPr>
            <a:spLocks noGrp="1"/>
          </p:cNvSpPr>
          <p:nvPr>
            <p:ph type="subTitle" idx="1"/>
          </p:nvPr>
        </p:nvSpPr>
        <p:spPr>
          <a:xfrm>
            <a:off x="838200" y="4191000"/>
            <a:ext cx="7543800" cy="1752600"/>
          </a:xfrm>
        </p:spPr>
        <p:txBody>
          <a:bodyPr>
            <a:normAutofit lnSpcReduction="10000"/>
          </a:bodyPr>
          <a:lstStyle/>
          <a:p>
            <a:pPr algn="ctr"/>
            <a:r>
              <a:rPr lang="en-US" sz="3000" dirty="0" smtClean="0"/>
              <a:t>University of Texas at El Paso</a:t>
            </a:r>
          </a:p>
          <a:p>
            <a:pPr algn="ctr"/>
            <a:r>
              <a:rPr lang="en-US" sz="1900" dirty="0" smtClean="0"/>
              <a:t>Geological Science Department</a:t>
            </a:r>
          </a:p>
          <a:p>
            <a:pPr algn="ctr"/>
            <a:endParaRPr lang="en-US" sz="1900" dirty="0" smtClean="0"/>
          </a:p>
          <a:p>
            <a:r>
              <a:rPr lang="en-US" dirty="0" smtClean="0"/>
              <a:t>		</a:t>
            </a:r>
            <a:r>
              <a:rPr lang="en-US" sz="1600" dirty="0" err="1" smtClean="0"/>
              <a:t>Esenam</a:t>
            </a:r>
            <a:r>
              <a:rPr lang="en-US" sz="1600" dirty="0" smtClean="0"/>
              <a:t> </a:t>
            </a:r>
            <a:r>
              <a:rPr lang="en-US" sz="1600" dirty="0" err="1" smtClean="0"/>
              <a:t>Ziwu</a:t>
            </a:r>
            <a:r>
              <a:rPr lang="en-US" sz="1600" dirty="0" smtClean="0"/>
              <a:t> – masters Research Student </a:t>
            </a:r>
          </a:p>
          <a:p>
            <a:r>
              <a:rPr lang="en-US" sz="1600" dirty="0" smtClean="0"/>
              <a:t>		Julio </a:t>
            </a:r>
            <a:r>
              <a:rPr lang="en-US" sz="1600" dirty="0" err="1" smtClean="0"/>
              <a:t>Ceniceros</a:t>
            </a:r>
            <a:r>
              <a:rPr lang="en-US" sz="1600" dirty="0" smtClean="0"/>
              <a:t> – Masters Research Student</a:t>
            </a:r>
            <a:endParaRPr lang="en-US" sz="1600" dirty="0"/>
          </a:p>
        </p:txBody>
      </p:sp>
      <p:pic>
        <p:nvPicPr>
          <p:cNvPr id="1026" name="Picture 2" descr="Image result for ute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5489" y="152400"/>
            <a:ext cx="1538689" cy="12192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angle 3"/>
          <p:cNvSpPr/>
          <p:nvPr/>
        </p:nvSpPr>
        <p:spPr>
          <a:xfrm>
            <a:off x="152400" y="304800"/>
            <a:ext cx="4572000" cy="646331"/>
          </a:xfrm>
          <a:prstGeom prst="rect">
            <a:avLst/>
          </a:prstGeom>
        </p:spPr>
        <p:txBody>
          <a:bodyPr>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en-US"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GEOLOGICAL SCIENCES</a:t>
            </a:r>
          </a:p>
          <a:p>
            <a:r>
              <a:rPr lang="en-US" b="1"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College of Science</a:t>
            </a:r>
            <a:endParaRPr lang="en-US"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ndParaRPr>
          </a:p>
        </p:txBody>
      </p:sp>
    </p:spTree>
    <p:extLst>
      <p:ext uri="{BB962C8B-B14F-4D97-AF65-F5344CB8AC3E}">
        <p14:creationId xmlns:p14="http://schemas.microsoft.com/office/powerpoint/2010/main" val="1322436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533400"/>
            <a:ext cx="8607425" cy="1066800"/>
          </a:xfrm>
        </p:spPr>
        <p:txBody>
          <a:bodyPr>
            <a:normAutofit/>
          </a:bodyPr>
          <a:lstStyle/>
          <a:p>
            <a:r>
              <a:rPr lang="en-US" sz="3200" dirty="0" smtClean="0"/>
              <a:t>Introduction</a:t>
            </a:r>
            <a:endParaRPr lang="en-US" sz="3200" dirty="0"/>
          </a:p>
        </p:txBody>
      </p:sp>
      <p:sp>
        <p:nvSpPr>
          <p:cNvPr id="3" name="Content Placeholder 2"/>
          <p:cNvSpPr>
            <a:spLocks noGrp="1"/>
          </p:cNvSpPr>
          <p:nvPr>
            <p:ph idx="1"/>
          </p:nvPr>
        </p:nvSpPr>
        <p:spPr>
          <a:xfrm>
            <a:off x="371475" y="1371600"/>
            <a:ext cx="8315326" cy="2895600"/>
          </a:xfrm>
        </p:spPr>
        <p:txBody>
          <a:bodyPr>
            <a:normAutofit lnSpcReduction="10000"/>
          </a:bodyPr>
          <a:lstStyle/>
          <a:p>
            <a:pPr marL="109728" indent="0">
              <a:buNone/>
            </a:pPr>
            <a:r>
              <a:rPr lang="en-US" sz="2400" dirty="0" smtClean="0">
                <a:latin typeface="Times New Roman" panose="02020603050405020304" pitchFamily="18" charset="0"/>
                <a:cs typeface="Times New Roman" panose="02020603050405020304" pitchFamily="18" charset="0"/>
              </a:rPr>
              <a:t>We have assessed the current and future state of technology with in our discipline and considered how it relates to our own individual research topics. </a:t>
            </a:r>
          </a:p>
          <a:p>
            <a:pPr lvl="1"/>
            <a:r>
              <a:rPr lang="en-US" sz="2200" dirty="0" smtClean="0">
                <a:latin typeface="Times New Roman" panose="02020603050405020304" pitchFamily="18" charset="0"/>
                <a:cs typeface="Times New Roman" panose="02020603050405020304" pitchFamily="18" charset="0"/>
              </a:rPr>
              <a:t>Our approach to assessing the discipline into three sections: </a:t>
            </a:r>
          </a:p>
          <a:p>
            <a:pPr lvl="2"/>
            <a:r>
              <a:rPr lang="en-US" sz="2000" dirty="0" smtClean="0">
                <a:latin typeface="Times New Roman" panose="02020603050405020304" pitchFamily="18" charset="0"/>
                <a:cs typeface="Times New Roman" panose="02020603050405020304" pitchFamily="18" charset="0"/>
              </a:rPr>
              <a:t>Data Management &amp; Collection</a:t>
            </a:r>
          </a:p>
          <a:p>
            <a:pPr lvl="2"/>
            <a:r>
              <a:rPr lang="en-US" sz="2000" dirty="0"/>
              <a:t>Data Integration and </a:t>
            </a:r>
            <a:r>
              <a:rPr lang="en-US" sz="2000" dirty="0" smtClean="0"/>
              <a:t>Analysis</a:t>
            </a:r>
          </a:p>
          <a:p>
            <a:pPr lvl="2"/>
            <a:r>
              <a:rPr lang="en-US" sz="2000" dirty="0"/>
              <a:t>WS and </a:t>
            </a:r>
            <a:r>
              <a:rPr lang="en-US" sz="2000" dirty="0" smtClean="0"/>
              <a:t>WF</a:t>
            </a:r>
          </a:p>
          <a:p>
            <a:pPr lvl="2"/>
            <a:r>
              <a:rPr lang="en-US" sz="2000" dirty="0" smtClean="0"/>
              <a:t>Visualization</a:t>
            </a:r>
            <a:endParaRPr lang="en-US" sz="2000" dirty="0"/>
          </a:p>
          <a:p>
            <a:pPr lvl="2"/>
            <a:endParaRPr lang="en-US" sz="20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109728" indent="0" algn="r">
              <a:buNone/>
            </a:pPr>
            <a:endParaRPr lang="en-US" sz="1800" dirty="0" smtClean="0"/>
          </a:p>
          <a:p>
            <a:pPr marL="109728" indent="0" algn="r">
              <a:buNone/>
            </a:pPr>
            <a:endParaRPr lang="en-US" sz="1800" dirty="0"/>
          </a:p>
          <a:p>
            <a:pPr marL="109728" indent="0" algn="r">
              <a:buNone/>
            </a:pPr>
            <a:endParaRPr lang="en-US" sz="1800" dirty="0" smtClean="0"/>
          </a:p>
          <a:p>
            <a:pPr marL="109728" indent="0" algn="r">
              <a:buNone/>
            </a:pPr>
            <a:endParaRPr lang="en-US" sz="1800" dirty="0"/>
          </a:p>
          <a:p>
            <a:pPr marL="109728" indent="0" algn="r">
              <a:buNone/>
            </a:pPr>
            <a:endParaRPr lang="en-US" sz="1800" dirty="0" smtClean="0"/>
          </a:p>
          <a:p>
            <a:pPr marL="109728" indent="0" algn="r">
              <a:buNone/>
            </a:pPr>
            <a:endParaRPr lang="en-US" sz="1800" dirty="0"/>
          </a:p>
          <a:p>
            <a:pPr marL="109728" indent="0" algn="r">
              <a:buNone/>
            </a:pPr>
            <a:endParaRPr lang="en-US" sz="1400" dirty="0" smtClean="0"/>
          </a:p>
        </p:txBody>
      </p:sp>
      <p:sp>
        <p:nvSpPr>
          <p:cNvPr id="4" name="AutoShape 4" descr="Image result for hyperspectral imag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9414" r="7035"/>
          <a:stretch/>
        </p:blipFill>
        <p:spPr>
          <a:xfrm>
            <a:off x="3492501" y="3733800"/>
            <a:ext cx="5410200" cy="2952750"/>
          </a:xfrm>
          <a:prstGeom prst="rect">
            <a:avLst/>
          </a:prstGeom>
          <a:effectLst>
            <a:softEdge rad="127000"/>
          </a:effectLst>
        </p:spPr>
      </p:pic>
    </p:spTree>
    <p:extLst>
      <p:ext uri="{BB962C8B-B14F-4D97-AF65-F5344CB8AC3E}">
        <p14:creationId xmlns:p14="http://schemas.microsoft.com/office/powerpoint/2010/main" val="23193015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7924800" cy="4325112"/>
          </a:xfrm>
        </p:spPr>
        <p:txBody>
          <a:bodyPr/>
          <a:lstStyle/>
          <a:p>
            <a:r>
              <a:rPr lang="en-US" sz="2400" dirty="0" smtClean="0">
                <a:ln w="0"/>
                <a:solidFill>
                  <a:schemeClr val="accent1"/>
                </a:solidFill>
                <a:effectLst>
                  <a:outerShdw blurRad="38100" dist="25400" dir="5400000" algn="ctr" rotWithShape="0">
                    <a:srgbClr val="6E747A">
                      <a:alpha val="43000"/>
                    </a:srgbClr>
                  </a:outerShdw>
                </a:effectLst>
              </a:rPr>
              <a:t>Data Management – </a:t>
            </a:r>
            <a:r>
              <a:rPr lang="en-US" sz="2400" dirty="0" smtClean="0">
                <a:ln w="0"/>
                <a:effectLst>
                  <a:outerShdw blurRad="38100" dist="19050" dir="2700000" algn="tl" rotWithShape="0">
                    <a:schemeClr val="dk1">
                      <a:alpha val="40000"/>
                    </a:schemeClr>
                  </a:outerShdw>
                </a:effectLst>
              </a:rPr>
              <a:t>A</a:t>
            </a:r>
            <a:r>
              <a:rPr lang="en-US" sz="2400" dirty="0" smtClean="0">
                <a:ln w="0"/>
                <a:solidFill>
                  <a:schemeClr val="accent1"/>
                </a:solidFill>
                <a:effectLst>
                  <a:outerShdw blurRad="38100" dist="25400" dir="5400000" algn="ctr" rotWithShape="0">
                    <a:srgbClr val="6E747A">
                      <a:alpha val="43000"/>
                    </a:srgbClr>
                  </a:outerShdw>
                </a:effectLst>
              </a:rPr>
              <a:t> </a:t>
            </a:r>
            <a:r>
              <a:rPr lang="en-US" sz="2400" dirty="0" smtClean="0">
                <a:ln w="0"/>
                <a:effectLst>
                  <a:outerShdw blurRad="38100" dist="19050" dir="2700000" algn="tl" rotWithShape="0">
                    <a:schemeClr val="dk1">
                      <a:alpha val="40000"/>
                    </a:schemeClr>
                  </a:outerShdw>
                </a:effectLst>
              </a:rPr>
              <a:t>process by which the required data is gathered, validated, stored, protected, and processed. This creates accessibility, reliability, and timeliness for users. </a:t>
            </a:r>
          </a:p>
          <a:p>
            <a:r>
              <a:rPr lang="en-US" sz="2400" dirty="0" smtClean="0">
                <a:ln w="0"/>
                <a:solidFill>
                  <a:schemeClr val="accent1"/>
                </a:solidFill>
                <a:effectLst>
                  <a:outerShdw blurRad="38100" dist="25400" dir="5400000" algn="ctr" rotWithShape="0">
                    <a:srgbClr val="6E747A">
                      <a:alpha val="43000"/>
                    </a:srgbClr>
                  </a:outerShdw>
                </a:effectLst>
              </a:rPr>
              <a:t>Data Collection </a:t>
            </a:r>
            <a:r>
              <a:rPr lang="en-US" sz="2400" dirty="0" smtClean="0"/>
              <a:t>- </a:t>
            </a:r>
            <a:r>
              <a:rPr lang="en-US" sz="2400" dirty="0">
                <a:ln w="0"/>
                <a:effectLst>
                  <a:outerShdw blurRad="38100" dist="19050" dir="2700000" algn="tl" rotWithShape="0">
                    <a:schemeClr val="dk1">
                      <a:alpha val="40000"/>
                    </a:schemeClr>
                  </a:outerShdw>
                </a:effectLst>
              </a:rPr>
              <a:t>Data collection is the process of gathering and measuring information on targeted variables in an established systematic </a:t>
            </a:r>
            <a:r>
              <a:rPr lang="en-US" sz="2400" dirty="0" smtClean="0">
                <a:ln w="0"/>
                <a:effectLst>
                  <a:outerShdw blurRad="38100" dist="19050" dir="2700000" algn="tl" rotWithShape="0">
                    <a:schemeClr val="dk1">
                      <a:alpha val="40000"/>
                    </a:schemeClr>
                  </a:outerShdw>
                </a:effectLst>
              </a:rPr>
              <a:t>fashion.</a:t>
            </a:r>
            <a:endParaRPr lang="en-US" sz="2400" dirty="0">
              <a:ln w="0"/>
              <a:effectLst>
                <a:outerShdw blurRad="38100" dist="19050" dir="2700000" algn="tl" rotWithShape="0">
                  <a:schemeClr val="dk1">
                    <a:alpha val="40000"/>
                  </a:schemeClr>
                </a:outerShdw>
              </a:effectLst>
            </a:endParaRPr>
          </a:p>
          <a:p>
            <a:endParaRPr lang="en-US" dirty="0"/>
          </a:p>
        </p:txBody>
      </p:sp>
      <p:sp>
        <p:nvSpPr>
          <p:cNvPr id="3" name="TextBox 2"/>
          <p:cNvSpPr txBox="1"/>
          <p:nvPr/>
        </p:nvSpPr>
        <p:spPr>
          <a:xfrm>
            <a:off x="381000" y="649146"/>
            <a:ext cx="8153400" cy="646331"/>
          </a:xfrm>
          <a:prstGeom prst="rect">
            <a:avLst/>
          </a:prstGeom>
          <a:noFill/>
        </p:spPr>
        <p:txBody>
          <a:bodyPr wrap="square" rtlCol="0">
            <a:spAutoFit/>
          </a:bodyPr>
          <a:lstStyle/>
          <a:p>
            <a:r>
              <a:rPr lang="en-US" sz="3600" dirty="0" smtClean="0">
                <a:effectLst>
                  <a:glow rad="63500">
                    <a:schemeClr val="accent6">
                      <a:satMod val="175000"/>
                      <a:alpha val="40000"/>
                    </a:schemeClr>
                  </a:glow>
                </a:effectLst>
              </a:rPr>
              <a:t>Data Management &amp; Collection</a:t>
            </a:r>
            <a:endParaRPr lang="en-US" sz="3600" dirty="0">
              <a:effectLst>
                <a:glow rad="63500">
                  <a:schemeClr val="accent6">
                    <a:satMod val="175000"/>
                    <a:alpha val="40000"/>
                  </a:schemeClr>
                </a:glow>
              </a:effectLst>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b="18182"/>
          <a:stretch/>
        </p:blipFill>
        <p:spPr>
          <a:xfrm>
            <a:off x="838786" y="4267200"/>
            <a:ext cx="7376160" cy="2057400"/>
          </a:xfrm>
          <a:prstGeom prst="rect">
            <a:avLst/>
          </a:prstGeom>
          <a:effectLst>
            <a:softEdge rad="127000"/>
          </a:effectLst>
        </p:spPr>
      </p:pic>
    </p:spTree>
    <p:extLst>
      <p:ext uri="{BB962C8B-B14F-4D97-AF65-F5344CB8AC3E}">
        <p14:creationId xmlns:p14="http://schemas.microsoft.com/office/powerpoint/2010/main" val="28422271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066800"/>
          </a:xfrm>
        </p:spPr>
        <p:txBody>
          <a:bodyPr/>
          <a:lstStyle/>
          <a:p>
            <a:r>
              <a:rPr lang="en-US" dirty="0" smtClean="0"/>
              <a:t>Report #1</a:t>
            </a:r>
            <a:endParaRPr lang="en-US" dirty="0"/>
          </a:p>
        </p:txBody>
      </p:sp>
      <p:sp>
        <p:nvSpPr>
          <p:cNvPr id="3" name="Content Placeholder 2"/>
          <p:cNvSpPr>
            <a:spLocks noGrp="1"/>
          </p:cNvSpPr>
          <p:nvPr>
            <p:ph idx="1"/>
          </p:nvPr>
        </p:nvSpPr>
        <p:spPr>
          <a:xfrm>
            <a:off x="228600" y="1524000"/>
            <a:ext cx="8229600" cy="4953000"/>
          </a:xfrm>
        </p:spPr>
        <p:txBody>
          <a:bodyPr/>
          <a:lstStyle/>
          <a:p>
            <a:r>
              <a:rPr lang="en-US" dirty="0" smtClean="0"/>
              <a:t>Data Source </a:t>
            </a:r>
            <a:r>
              <a:rPr lang="en-US" dirty="0" smtClean="0"/>
              <a:t>T</a:t>
            </a:r>
            <a:r>
              <a:rPr lang="en-US" dirty="0" smtClean="0"/>
              <a:t>echnical </a:t>
            </a:r>
            <a:r>
              <a:rPr lang="en-US" dirty="0" smtClean="0"/>
              <a:t>R</a:t>
            </a:r>
            <a:r>
              <a:rPr lang="en-US" dirty="0" smtClean="0"/>
              <a:t>eport</a:t>
            </a:r>
          </a:p>
          <a:p>
            <a:pPr lvl="1"/>
            <a:r>
              <a:rPr lang="en-US" dirty="0" smtClean="0"/>
              <a:t>1</a:t>
            </a:r>
            <a:r>
              <a:rPr lang="en-US" dirty="0" smtClean="0"/>
              <a:t>) </a:t>
            </a:r>
            <a:r>
              <a:rPr lang="en-US" dirty="0"/>
              <a:t>Existing technology</a:t>
            </a:r>
          </a:p>
          <a:p>
            <a:pPr lvl="3"/>
            <a:r>
              <a:rPr lang="en-US" sz="2400" dirty="0">
                <a:latin typeface="Calibri" panose="020F0502020204030204" pitchFamily="34" charset="0"/>
                <a:ea typeface="Calibri" panose="020F0502020204030204" pitchFamily="34" charset="0"/>
                <a:cs typeface="Calibri" panose="020F0502020204030204" pitchFamily="34" charset="0"/>
              </a:rPr>
              <a:t>The Community Research &amp; Development Information Service (CORDIS) which is funded by the European Commission Program (ECP). </a:t>
            </a:r>
            <a:r>
              <a:rPr lang="en-US" sz="2400" dirty="0" smtClean="0">
                <a:latin typeface="Calibri" panose="020F0502020204030204" pitchFamily="34" charset="0"/>
                <a:ea typeface="Calibri" panose="020F0502020204030204" pitchFamily="34" charset="0"/>
                <a:cs typeface="Calibri" panose="020F0502020204030204" pitchFamily="34" charset="0"/>
              </a:rPr>
              <a:t>-</a:t>
            </a:r>
            <a:r>
              <a:rPr lang="en-US" sz="2400" dirty="0" err="1" smtClean="0">
                <a:latin typeface="Calibri" panose="020F0502020204030204" pitchFamily="34" charset="0"/>
                <a:ea typeface="Calibri" panose="020F0502020204030204" pitchFamily="34" charset="0"/>
                <a:cs typeface="Calibri" panose="020F0502020204030204" pitchFamily="34" charset="0"/>
              </a:rPr>
              <a:t>jc</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r>
              <a:rPr lang="en-US" dirty="0"/>
              <a:t>2) Citizen </a:t>
            </a:r>
            <a:r>
              <a:rPr lang="en-US" dirty="0" smtClean="0"/>
              <a:t>Data</a:t>
            </a:r>
          </a:p>
          <a:p>
            <a:pPr lvl="3"/>
            <a:r>
              <a:rPr lang="en-US" dirty="0"/>
              <a:t>China and Canada </a:t>
            </a:r>
            <a:r>
              <a:rPr lang="en-US" dirty="0" smtClean="0"/>
              <a:t>example-</a:t>
            </a:r>
            <a:r>
              <a:rPr lang="en-US" dirty="0" err="1" smtClean="0"/>
              <a:t>ez</a:t>
            </a:r>
            <a:endParaRPr lang="en-US" dirty="0" smtClean="0"/>
          </a:p>
          <a:p>
            <a:pPr lvl="1"/>
            <a:r>
              <a:rPr lang="en-US" sz="2800" dirty="0" smtClean="0">
                <a:latin typeface="Calibri" panose="020F0502020204030204" pitchFamily="34" charset="0"/>
              </a:rPr>
              <a:t>3) Sensor Networks</a:t>
            </a:r>
          </a:p>
          <a:p>
            <a:pPr lvl="3"/>
            <a:r>
              <a:rPr lang="en-US" dirty="0" err="1" smtClean="0">
                <a:latin typeface="Calibri" panose="020F0502020204030204" pitchFamily="34" charset="0"/>
              </a:rPr>
              <a:t>TetraScience</a:t>
            </a:r>
            <a:r>
              <a:rPr lang="en-US" dirty="0" smtClean="0">
                <a:latin typeface="Calibri" panose="020F0502020204030204" pitchFamily="34" charset="0"/>
              </a:rPr>
              <a:t> - </a:t>
            </a:r>
            <a:r>
              <a:rPr lang="en-US" dirty="0" err="1" smtClean="0">
                <a:latin typeface="Calibri" panose="020F0502020204030204" pitchFamily="34" charset="0"/>
              </a:rPr>
              <a:t>jc</a:t>
            </a:r>
            <a:endParaRPr lang="en-US" dirty="0" smtClean="0"/>
          </a:p>
          <a:p>
            <a:pPr lvl="3"/>
            <a:endParaRPr lang="en-US" dirty="0" smtClean="0"/>
          </a:p>
          <a:p>
            <a:pPr lvl="3"/>
            <a:endParaRPr lang="en-US" dirty="0" smtClean="0"/>
          </a:p>
        </p:txBody>
      </p:sp>
    </p:spTree>
    <p:extLst>
      <p:ext uri="{BB962C8B-B14F-4D97-AF65-F5344CB8AC3E}">
        <p14:creationId xmlns:p14="http://schemas.microsoft.com/office/powerpoint/2010/main" val="18244777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066800"/>
          </a:xfrm>
        </p:spPr>
        <p:txBody>
          <a:bodyPr/>
          <a:lstStyle/>
          <a:p>
            <a:r>
              <a:rPr lang="en-US" dirty="0" smtClean="0"/>
              <a:t>Real Example</a:t>
            </a:r>
            <a:endParaRPr lang="en-US" dirty="0"/>
          </a:p>
        </p:txBody>
      </p:sp>
      <p:sp>
        <p:nvSpPr>
          <p:cNvPr id="3" name="Content Placeholder 2"/>
          <p:cNvSpPr>
            <a:spLocks noGrp="1"/>
          </p:cNvSpPr>
          <p:nvPr>
            <p:ph idx="1"/>
          </p:nvPr>
        </p:nvSpPr>
        <p:spPr>
          <a:xfrm>
            <a:off x="457200" y="1219200"/>
            <a:ext cx="8229600" cy="2362200"/>
          </a:xfrm>
        </p:spPr>
        <p:txBody>
          <a:bodyPr/>
          <a:lstStyle/>
          <a:p>
            <a:r>
              <a:rPr lang="en-US" sz="2400" dirty="0" smtClean="0"/>
              <a:t>GitHub – all happy family</a:t>
            </a:r>
            <a:endParaRPr lang="en-US" sz="2400" dirty="0"/>
          </a:p>
        </p:txBody>
      </p:sp>
      <p:sp>
        <p:nvSpPr>
          <p:cNvPr id="5" name="Rectangle 4"/>
          <p:cNvSpPr/>
          <p:nvPr/>
        </p:nvSpPr>
        <p:spPr>
          <a:xfrm>
            <a:off x="3581400" y="6172200"/>
            <a:ext cx="40386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846918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lstStyle/>
          <a:p>
            <a:r>
              <a:rPr lang="en-US" dirty="0" smtClean="0">
                <a:effectLst>
                  <a:glow rad="63500">
                    <a:schemeClr val="accent6">
                      <a:satMod val="175000"/>
                      <a:alpha val="40000"/>
                    </a:schemeClr>
                  </a:glow>
                </a:effectLst>
              </a:rPr>
              <a:t>Data Integration and Analysis</a:t>
            </a:r>
            <a:endParaRPr lang="en-US" dirty="0">
              <a:effectLst>
                <a:glow rad="63500">
                  <a:schemeClr val="accent6">
                    <a:satMod val="175000"/>
                    <a:alpha val="40000"/>
                  </a:schemeClr>
                </a:glow>
              </a:effectLst>
            </a:endParaRPr>
          </a:p>
        </p:txBody>
      </p:sp>
      <p:sp>
        <p:nvSpPr>
          <p:cNvPr id="3" name="Content Placeholder 2"/>
          <p:cNvSpPr>
            <a:spLocks noGrp="1"/>
          </p:cNvSpPr>
          <p:nvPr>
            <p:ph idx="1"/>
          </p:nvPr>
        </p:nvSpPr>
        <p:spPr>
          <a:xfrm>
            <a:off x="304800" y="1676400"/>
            <a:ext cx="8229600" cy="4325112"/>
          </a:xfrm>
        </p:spPr>
        <p:txBody>
          <a:bodyPr>
            <a:normAutofit fontScale="92500" lnSpcReduction="10000"/>
          </a:bodyPr>
          <a:lstStyle/>
          <a:p>
            <a:r>
              <a:rPr lang="en-US" dirty="0">
                <a:ln w="0"/>
                <a:solidFill>
                  <a:schemeClr val="accent1"/>
                </a:solidFill>
                <a:effectLst>
                  <a:outerShdw blurRad="38100" dist="25400" dir="5400000" algn="ctr" rotWithShape="0">
                    <a:srgbClr val="6E747A">
                      <a:alpha val="43000"/>
                    </a:srgbClr>
                  </a:outerShdw>
                </a:effectLst>
              </a:rPr>
              <a:t>Data </a:t>
            </a:r>
            <a:r>
              <a:rPr lang="en-US" dirty="0" smtClean="0">
                <a:ln w="0"/>
                <a:solidFill>
                  <a:schemeClr val="accent1"/>
                </a:solidFill>
                <a:effectLst>
                  <a:outerShdw blurRad="38100" dist="25400" dir="5400000" algn="ctr" rotWithShape="0">
                    <a:srgbClr val="6E747A">
                      <a:alpha val="43000"/>
                    </a:srgbClr>
                  </a:outerShdw>
                </a:effectLst>
              </a:rPr>
              <a:t>Integration </a:t>
            </a:r>
            <a:r>
              <a:rPr lang="en-US" dirty="0" smtClean="0"/>
              <a:t>- involves </a:t>
            </a:r>
            <a:r>
              <a:rPr lang="en-US" dirty="0"/>
              <a:t>combining data from various sources and providing users with a unified view of these data.  This process becomes extremely useful when it crosses various domains and disciplines and can generate new data from the data links. </a:t>
            </a:r>
            <a:endParaRPr lang="en-US" dirty="0" smtClean="0"/>
          </a:p>
          <a:p>
            <a:pPr marL="109728" indent="0">
              <a:buNone/>
            </a:pPr>
            <a:endParaRPr lang="en-US" dirty="0" smtClean="0"/>
          </a:p>
          <a:p>
            <a:r>
              <a:rPr lang="en-US" dirty="0" smtClean="0">
                <a:ln w="0"/>
                <a:solidFill>
                  <a:schemeClr val="accent1"/>
                </a:solidFill>
                <a:effectLst>
                  <a:outerShdw blurRad="38100" dist="25400" dir="5400000" algn="ctr" rotWithShape="0">
                    <a:srgbClr val="6E747A">
                      <a:alpha val="43000"/>
                    </a:srgbClr>
                  </a:outerShdw>
                </a:effectLst>
              </a:rPr>
              <a:t>Analysis </a:t>
            </a:r>
            <a:r>
              <a:rPr lang="en-US" dirty="0">
                <a:ln w="0"/>
                <a:solidFill>
                  <a:schemeClr val="accent1"/>
                </a:solidFill>
                <a:effectLst>
                  <a:outerShdw blurRad="38100" dist="25400" dir="5400000" algn="ctr" rotWithShape="0">
                    <a:srgbClr val="6E747A">
                      <a:alpha val="43000"/>
                    </a:srgbClr>
                  </a:outerShdw>
                </a:effectLst>
              </a:rPr>
              <a:t>of </a:t>
            </a:r>
            <a:r>
              <a:rPr lang="en-US" dirty="0">
                <a:ln w="0"/>
                <a:solidFill>
                  <a:schemeClr val="accent1"/>
                </a:solidFill>
                <a:effectLst>
                  <a:outerShdw blurRad="38100" dist="25400" dir="5400000" algn="ctr" rotWithShape="0">
                    <a:srgbClr val="6E747A">
                      <a:alpha val="43000"/>
                    </a:srgbClr>
                  </a:outerShdw>
                </a:effectLst>
              </a:rPr>
              <a:t>D</a:t>
            </a:r>
            <a:r>
              <a:rPr lang="en-US" dirty="0" smtClean="0">
                <a:ln w="0"/>
                <a:solidFill>
                  <a:schemeClr val="accent1"/>
                </a:solidFill>
                <a:effectLst>
                  <a:outerShdw blurRad="38100" dist="25400" dir="5400000" algn="ctr" rotWithShape="0">
                    <a:srgbClr val="6E747A">
                      <a:alpha val="43000"/>
                    </a:srgbClr>
                  </a:outerShdw>
                </a:effectLst>
              </a:rPr>
              <a:t>ata </a:t>
            </a:r>
            <a:r>
              <a:rPr lang="en-US" dirty="0" smtClean="0"/>
              <a:t>- is </a:t>
            </a:r>
            <a:r>
              <a:rPr lang="en-US" dirty="0"/>
              <a:t>a process of examining, transforming, and visualizing data with the goal of discovering useful information to support results and decision-making. </a:t>
            </a:r>
          </a:p>
        </p:txBody>
      </p:sp>
    </p:spTree>
    <p:extLst>
      <p:ext uri="{BB962C8B-B14F-4D97-AF65-F5344CB8AC3E}">
        <p14:creationId xmlns:p14="http://schemas.microsoft.com/office/powerpoint/2010/main" val="17148689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#2</a:t>
            </a:r>
            <a:endParaRPr lang="en-US" dirty="0"/>
          </a:p>
        </p:txBody>
      </p:sp>
      <p:sp>
        <p:nvSpPr>
          <p:cNvPr id="3" name="Content Placeholder 2"/>
          <p:cNvSpPr>
            <a:spLocks noGrp="1"/>
          </p:cNvSpPr>
          <p:nvPr>
            <p:ph idx="1"/>
          </p:nvPr>
        </p:nvSpPr>
        <p:spPr/>
        <p:txBody>
          <a:bodyPr/>
          <a:lstStyle/>
          <a:p>
            <a:pPr lvl="1"/>
            <a:r>
              <a:rPr lang="en-US" dirty="0" smtClean="0"/>
              <a:t>1)</a:t>
            </a:r>
            <a:r>
              <a:rPr lang="en-US" dirty="0" err="1" smtClean="0"/>
              <a:t>Maching</a:t>
            </a:r>
            <a:r>
              <a:rPr lang="en-US" dirty="0" smtClean="0"/>
              <a:t> learning</a:t>
            </a:r>
          </a:p>
          <a:p>
            <a:pPr lvl="2"/>
            <a:r>
              <a:rPr lang="en-US" dirty="0" smtClean="0"/>
              <a:t>IBM Research Lab in South </a:t>
            </a:r>
            <a:r>
              <a:rPr lang="en-US" dirty="0" smtClean="0"/>
              <a:t>Africa - EZ</a:t>
            </a:r>
            <a:endParaRPr lang="en-US" dirty="0" smtClean="0"/>
          </a:p>
          <a:p>
            <a:pPr lvl="1"/>
            <a:r>
              <a:rPr lang="en-US" dirty="0" smtClean="0"/>
              <a:t>2) </a:t>
            </a:r>
            <a:r>
              <a:rPr lang="en-US" dirty="0" err="1" smtClean="0"/>
              <a:t>Onthologies</a:t>
            </a:r>
            <a:r>
              <a:rPr lang="en-US" dirty="0" smtClean="0"/>
              <a:t> </a:t>
            </a:r>
          </a:p>
          <a:p>
            <a:pPr lvl="2"/>
            <a:r>
              <a:rPr lang="en-US" dirty="0"/>
              <a:t>NOAA - Integrated Ocean Observing System (IOOS</a:t>
            </a:r>
            <a:r>
              <a:rPr lang="en-US" dirty="0" smtClean="0"/>
              <a:t>)-JC</a:t>
            </a:r>
            <a:endParaRPr lang="en-US" dirty="0" smtClean="0"/>
          </a:p>
          <a:p>
            <a:pPr lvl="1"/>
            <a:r>
              <a:rPr lang="en-US" dirty="0" smtClean="0"/>
              <a:t>3) Data mining</a:t>
            </a:r>
          </a:p>
          <a:p>
            <a:pPr lvl="2"/>
            <a:r>
              <a:rPr lang="en-US" dirty="0"/>
              <a:t>IBM </a:t>
            </a:r>
            <a:r>
              <a:rPr lang="en-US" dirty="0" smtClean="0"/>
              <a:t>Analytics???? Find example in </a:t>
            </a:r>
            <a:r>
              <a:rPr lang="en-US" dirty="0" err="1" smtClean="0"/>
              <a:t>Env</a:t>
            </a:r>
            <a:r>
              <a:rPr lang="en-US" dirty="0" smtClean="0"/>
              <a:t> </a:t>
            </a:r>
            <a:r>
              <a:rPr lang="en-US" dirty="0" smtClean="0"/>
              <a:t>Science-JC</a:t>
            </a:r>
            <a:endParaRPr lang="en-US" dirty="0"/>
          </a:p>
        </p:txBody>
      </p:sp>
    </p:spTree>
    <p:extLst>
      <p:ext uri="{BB962C8B-B14F-4D97-AF65-F5344CB8AC3E}">
        <p14:creationId xmlns:p14="http://schemas.microsoft.com/office/powerpoint/2010/main" val="1475444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 example #2</a:t>
            </a:r>
            <a:endParaRPr lang="en-US" dirty="0"/>
          </a:p>
        </p:txBody>
      </p:sp>
      <p:sp>
        <p:nvSpPr>
          <p:cNvPr id="3" name="Content Placeholder 2"/>
          <p:cNvSpPr>
            <a:spLocks noGrp="1"/>
          </p:cNvSpPr>
          <p:nvPr>
            <p:ph idx="1"/>
          </p:nvPr>
        </p:nvSpPr>
        <p:spPr/>
        <p:txBody>
          <a:bodyPr/>
          <a:lstStyle/>
          <a:p>
            <a:r>
              <a:rPr lang="en-US" dirty="0" smtClean="0"/>
              <a:t>Weka </a:t>
            </a:r>
            <a:r>
              <a:rPr lang="en-US" dirty="0" smtClean="0"/>
              <a:t>example - </a:t>
            </a:r>
            <a:r>
              <a:rPr lang="en-US" dirty="0" err="1" smtClean="0"/>
              <a:t>ez</a:t>
            </a:r>
            <a:r>
              <a:rPr lang="en-US" dirty="0" smtClean="0"/>
              <a:t> </a:t>
            </a:r>
            <a:endParaRPr lang="en-US" dirty="0"/>
          </a:p>
        </p:txBody>
      </p:sp>
    </p:spTree>
    <p:extLst>
      <p:ext uri="{BB962C8B-B14F-4D97-AF65-F5344CB8AC3E}">
        <p14:creationId xmlns:p14="http://schemas.microsoft.com/office/powerpoint/2010/main" val="33967192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329299" y="4038600"/>
            <a:ext cx="40386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Content Placeholder 6"/>
          <p:cNvSpPr>
            <a:spLocks noGrp="1"/>
          </p:cNvSpPr>
          <p:nvPr>
            <p:ph idx="1"/>
          </p:nvPr>
        </p:nvSpPr>
        <p:spPr>
          <a:xfrm>
            <a:off x="457200" y="1295400"/>
            <a:ext cx="8382000" cy="3011269"/>
          </a:xfrm>
        </p:spPr>
        <p:txBody>
          <a:bodyPr>
            <a:normAutofit/>
          </a:bodyPr>
          <a:lstStyle/>
          <a:p>
            <a:r>
              <a:rPr lang="en-US" sz="2400" dirty="0"/>
              <a:t>The Fourth Paradigm defines a work flow as a precise description of a scientific procedure – a multi-step process to coordinate multiple tasks, acting like a sophisticated script</a:t>
            </a:r>
            <a:r>
              <a:rPr lang="en-US" sz="2400" dirty="0" smtClean="0"/>
              <a:t>.</a:t>
            </a:r>
          </a:p>
          <a:p>
            <a:pPr marL="109728" indent="0">
              <a:buNone/>
            </a:pPr>
            <a:endParaRPr lang="en-US" sz="2400" dirty="0" smtClean="0"/>
          </a:p>
          <a:p>
            <a:r>
              <a:rPr lang="en-US" sz="2400" dirty="0" smtClean="0"/>
              <a:t>In </a:t>
            </a:r>
            <a:r>
              <a:rPr lang="en-US" sz="2400" dirty="0"/>
              <a:t>other words, someone has created a script to execute multiple computational steps towards any desired output. </a:t>
            </a:r>
            <a:endParaRPr lang="en-US" sz="2000" dirty="0"/>
          </a:p>
        </p:txBody>
      </p:sp>
      <p:sp>
        <p:nvSpPr>
          <p:cNvPr id="2" name="TextBox 1"/>
          <p:cNvSpPr txBox="1"/>
          <p:nvPr/>
        </p:nvSpPr>
        <p:spPr>
          <a:xfrm>
            <a:off x="685800" y="542000"/>
            <a:ext cx="4724400" cy="646331"/>
          </a:xfrm>
          <a:prstGeom prst="rect">
            <a:avLst/>
          </a:prstGeom>
          <a:noFill/>
        </p:spPr>
        <p:txBody>
          <a:bodyPr wrap="square" rtlCol="0">
            <a:spAutoFit/>
          </a:bodyPr>
          <a:lstStyle/>
          <a:p>
            <a:r>
              <a:rPr lang="en-US" sz="3600" dirty="0" smtClean="0">
                <a:effectLst>
                  <a:glow rad="63500">
                    <a:schemeClr val="accent6">
                      <a:satMod val="175000"/>
                      <a:alpha val="40000"/>
                    </a:schemeClr>
                  </a:glow>
                </a:effectLst>
              </a:rPr>
              <a:t>Workflows Systems</a:t>
            </a:r>
            <a:endParaRPr lang="en-US" sz="3600" dirty="0">
              <a:effectLst>
                <a:glow rad="63500">
                  <a:schemeClr val="accent6">
                    <a:satMod val="175000"/>
                    <a:alpha val="40000"/>
                  </a:schemeClr>
                </a:glow>
              </a:effectLst>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4056185"/>
            <a:ext cx="8077200" cy="2556387"/>
          </a:xfrm>
          <a:prstGeom prst="rect">
            <a:avLst/>
          </a:prstGeom>
          <a:effectLst>
            <a:softEdge rad="317500"/>
          </a:effectLst>
        </p:spPr>
      </p:pic>
    </p:spTree>
    <p:extLst>
      <p:ext uri="{BB962C8B-B14F-4D97-AF65-F5344CB8AC3E}">
        <p14:creationId xmlns:p14="http://schemas.microsoft.com/office/powerpoint/2010/main" val="30229528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07377"/>
            <a:ext cx="8229600" cy="1066800"/>
          </a:xfrm>
        </p:spPr>
        <p:txBody>
          <a:bodyPr>
            <a:normAutofit fontScale="90000"/>
          </a:bodyPr>
          <a:lstStyle/>
          <a:p>
            <a:r>
              <a:rPr lang="en-US" dirty="0" smtClean="0"/>
              <a:t>Report </a:t>
            </a:r>
            <a:r>
              <a:rPr lang="en-US" dirty="0" smtClean="0"/>
              <a:t>#3 / Workflow Technical Report</a:t>
            </a:r>
            <a:endParaRPr lang="en-US" dirty="0"/>
          </a:p>
        </p:txBody>
      </p:sp>
      <p:sp>
        <p:nvSpPr>
          <p:cNvPr id="3" name="Content Placeholder 2"/>
          <p:cNvSpPr>
            <a:spLocks noGrp="1"/>
          </p:cNvSpPr>
          <p:nvPr>
            <p:ph idx="1"/>
          </p:nvPr>
        </p:nvSpPr>
        <p:spPr>
          <a:xfrm>
            <a:off x="-178777" y="1852246"/>
            <a:ext cx="4495800" cy="3915508"/>
          </a:xfrm>
        </p:spPr>
        <p:txBody>
          <a:bodyPr>
            <a:normAutofit/>
          </a:bodyPr>
          <a:lstStyle/>
          <a:p>
            <a:pPr lvl="1"/>
            <a:r>
              <a:rPr lang="en-US" dirty="0" smtClean="0"/>
              <a:t>Heterogeneous Code</a:t>
            </a:r>
          </a:p>
          <a:p>
            <a:pPr lvl="2"/>
            <a:r>
              <a:rPr lang="en-US" dirty="0" smtClean="0"/>
              <a:t>Bio </a:t>
            </a:r>
            <a:r>
              <a:rPr lang="en-US" dirty="0" smtClean="0"/>
              <a:t>Earth - </a:t>
            </a:r>
            <a:r>
              <a:rPr lang="en-US" dirty="0" err="1" smtClean="0"/>
              <a:t>ez</a:t>
            </a:r>
            <a:endParaRPr lang="en-US" dirty="0" smtClean="0"/>
          </a:p>
          <a:p>
            <a:pPr lvl="1"/>
            <a:r>
              <a:rPr lang="en-US" dirty="0" smtClean="0"/>
              <a:t>Provenance</a:t>
            </a:r>
          </a:p>
          <a:p>
            <a:pPr lvl="2"/>
            <a:r>
              <a:rPr lang="en-US" dirty="0"/>
              <a:t>The Accelerated Climate Modeling for Energy (ACME) project. </a:t>
            </a:r>
            <a:r>
              <a:rPr lang="en-US" dirty="0" smtClean="0"/>
              <a:t>-</a:t>
            </a:r>
            <a:r>
              <a:rPr lang="en-US" dirty="0" err="1" smtClean="0"/>
              <a:t>jc</a:t>
            </a:r>
            <a:endParaRPr lang="en-US" dirty="0" smtClean="0"/>
          </a:p>
          <a:p>
            <a:pPr lvl="1"/>
            <a:r>
              <a:rPr lang="en-US" dirty="0"/>
              <a:t>Benefits </a:t>
            </a:r>
            <a:r>
              <a:rPr lang="en-US" dirty="0" smtClean="0"/>
              <a:t>of </a:t>
            </a:r>
            <a:r>
              <a:rPr lang="en-US" dirty="0"/>
              <a:t>Workflows </a:t>
            </a:r>
            <a:endParaRPr lang="en-US" dirty="0" smtClean="0"/>
          </a:p>
          <a:p>
            <a:pPr lvl="2"/>
            <a:r>
              <a:rPr lang="en-US" dirty="0" smtClean="0"/>
              <a:t>BREATH System - </a:t>
            </a:r>
            <a:r>
              <a:rPr lang="en-US" dirty="0" err="1" smtClean="0"/>
              <a:t>ez</a:t>
            </a:r>
            <a:endParaRPr lang="en-US" dirty="0" smtClean="0"/>
          </a:p>
          <a:p>
            <a:pPr lvl="1"/>
            <a:endParaRPr lang="en-US" dirty="0"/>
          </a:p>
        </p:txBody>
      </p:sp>
    </p:spTree>
    <p:extLst>
      <p:ext uri="{BB962C8B-B14F-4D97-AF65-F5344CB8AC3E}">
        <p14:creationId xmlns:p14="http://schemas.microsoft.com/office/powerpoint/2010/main" val="12322085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9589"/>
            <a:ext cx="8229600" cy="1066800"/>
          </a:xfrm>
        </p:spPr>
        <p:txBody>
          <a:bodyPr/>
          <a:lstStyle/>
          <a:p>
            <a:r>
              <a:rPr lang="en-US" dirty="0" smtClean="0"/>
              <a:t>Real Example #</a:t>
            </a:r>
            <a:r>
              <a:rPr lang="en-US" dirty="0" smtClean="0"/>
              <a:t>3 - </a:t>
            </a:r>
            <a:r>
              <a:rPr lang="en-US" dirty="0" err="1" smtClean="0"/>
              <a:t>jc</a:t>
            </a:r>
            <a:endParaRPr lang="en-US" dirty="0"/>
          </a:p>
        </p:txBody>
      </p:sp>
      <p:sp>
        <p:nvSpPr>
          <p:cNvPr id="3" name="Content Placeholder 2"/>
          <p:cNvSpPr>
            <a:spLocks noGrp="1"/>
          </p:cNvSpPr>
          <p:nvPr>
            <p:ph idx="1"/>
          </p:nvPr>
        </p:nvSpPr>
        <p:spPr>
          <a:xfrm>
            <a:off x="334010" y="1371600"/>
            <a:ext cx="8229600" cy="4325112"/>
          </a:xfrm>
        </p:spPr>
        <p:txBody>
          <a:bodyPr>
            <a:normAutofit/>
          </a:bodyPr>
          <a:lstStyle/>
          <a:p>
            <a:r>
              <a:rPr lang="en-US" sz="2400" dirty="0"/>
              <a:t>ENVI has a tool called the Spectral Hourglass Wizard.  This workflow allows the user to find and map image spectral endmembers from hyperspectral or multispectral data. The Wizard displays detailed instructions and useful information for each function. </a:t>
            </a:r>
            <a:endParaRPr lang="en-US" sz="2400" dirty="0" smtClean="0"/>
          </a:p>
          <a:p>
            <a:endParaRPr lang="en-US" sz="2400" dirty="0"/>
          </a:p>
        </p:txBody>
      </p:sp>
      <p:pic>
        <p:nvPicPr>
          <p:cNvPr id="4" name="Picture 3"/>
          <p:cNvPicPr/>
          <p:nvPr/>
        </p:nvPicPr>
        <p:blipFill rotWithShape="1">
          <a:blip r:embed="rId2">
            <a:extLst>
              <a:ext uri="{28A0092B-C50C-407E-A947-70E740481C1C}">
                <a14:useLocalDpi xmlns:a14="http://schemas.microsoft.com/office/drawing/2010/main" val="0"/>
              </a:ext>
            </a:extLst>
          </a:blip>
          <a:srcRect l="24756" t="33073" r="48291" b="28646"/>
          <a:stretch/>
        </p:blipFill>
        <p:spPr bwMode="auto">
          <a:xfrm>
            <a:off x="2277110" y="3545879"/>
            <a:ext cx="4343400" cy="289560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8057423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Visualization</a:t>
            </a:r>
            <a:endParaRPr lang="en-US" dirty="0"/>
          </a:p>
        </p:txBody>
      </p:sp>
      <p:sp>
        <p:nvSpPr>
          <p:cNvPr id="3" name="Content Placeholder 2"/>
          <p:cNvSpPr>
            <a:spLocks noGrp="1"/>
          </p:cNvSpPr>
          <p:nvPr>
            <p:ph idx="1"/>
          </p:nvPr>
        </p:nvSpPr>
        <p:spPr/>
        <p:txBody>
          <a:bodyPr/>
          <a:lstStyle/>
          <a:p>
            <a:r>
              <a:rPr lang="en-US" dirty="0" smtClean="0"/>
              <a:t>Explanation</a:t>
            </a:r>
            <a:endParaRPr lang="en-US" dirty="0"/>
          </a:p>
        </p:txBody>
      </p:sp>
    </p:spTree>
    <p:extLst>
      <p:ext uri="{BB962C8B-B14F-4D97-AF65-F5344CB8AC3E}">
        <p14:creationId xmlns:p14="http://schemas.microsoft.com/office/powerpoint/2010/main" val="16200346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#4</a:t>
            </a:r>
            <a:endParaRPr lang="en-US" dirty="0"/>
          </a:p>
        </p:txBody>
      </p:sp>
      <p:sp>
        <p:nvSpPr>
          <p:cNvPr id="3" name="Content Placeholder 2"/>
          <p:cNvSpPr>
            <a:spLocks noGrp="1"/>
          </p:cNvSpPr>
          <p:nvPr>
            <p:ph idx="1"/>
          </p:nvPr>
        </p:nvSpPr>
        <p:spPr/>
        <p:txBody>
          <a:bodyPr/>
          <a:lstStyle/>
          <a:p>
            <a:r>
              <a:rPr lang="en-US" dirty="0" smtClean="0"/>
              <a:t>1</a:t>
            </a:r>
          </a:p>
          <a:p>
            <a:r>
              <a:rPr lang="en-US" dirty="0" smtClean="0"/>
              <a:t>2</a:t>
            </a:r>
          </a:p>
          <a:p>
            <a:r>
              <a:rPr lang="en-US" dirty="0" smtClean="0"/>
              <a:t>3</a:t>
            </a:r>
          </a:p>
          <a:p>
            <a:endParaRPr lang="en-US" dirty="0"/>
          </a:p>
        </p:txBody>
      </p:sp>
    </p:spTree>
    <p:extLst>
      <p:ext uri="{BB962C8B-B14F-4D97-AF65-F5344CB8AC3E}">
        <p14:creationId xmlns:p14="http://schemas.microsoft.com/office/powerpoint/2010/main" val="19958572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 life Example#4</a:t>
            </a:r>
            <a:endParaRPr lang="en-US" dirty="0"/>
          </a:p>
        </p:txBody>
      </p:sp>
      <p:sp>
        <p:nvSpPr>
          <p:cNvPr id="3" name="Content Placeholder 2"/>
          <p:cNvSpPr>
            <a:spLocks noGrp="1"/>
          </p:cNvSpPr>
          <p:nvPr>
            <p:ph idx="1"/>
          </p:nvPr>
        </p:nvSpPr>
        <p:spPr>
          <a:xfrm>
            <a:off x="457200" y="2249424"/>
            <a:ext cx="8534400" cy="4325112"/>
          </a:xfrm>
        </p:spPr>
        <p:txBody>
          <a:bodyPr>
            <a:normAutofit/>
          </a:bodyPr>
          <a:lstStyle/>
          <a:p>
            <a:endParaRPr lang="en-US" sz="1600" dirty="0"/>
          </a:p>
          <a:p>
            <a:pPr fontAlgn="base"/>
            <a:endParaRPr lang="en-US" sz="1600" b="1" dirty="0"/>
          </a:p>
          <a:p>
            <a:endParaRPr lang="en-US" sz="1600" dirty="0"/>
          </a:p>
        </p:txBody>
      </p:sp>
    </p:spTree>
    <p:extLst>
      <p:ext uri="{BB962C8B-B14F-4D97-AF65-F5344CB8AC3E}">
        <p14:creationId xmlns:p14="http://schemas.microsoft.com/office/powerpoint/2010/main" val="2053021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118581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Relevance to our research</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4338993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5706791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2819400"/>
            <a:ext cx="8229600" cy="1066800"/>
          </a:xfrm>
        </p:spPr>
        <p:txBody>
          <a:bodyPr>
            <a:noAutofit/>
          </a:bodyPr>
          <a:lstStyle/>
          <a:p>
            <a:r>
              <a:rPr lang="en-US" sz="8000" dirty="0" smtClean="0"/>
              <a:t>Questions?</a:t>
            </a:r>
            <a:endParaRPr lang="en-US" sz="8000" dirty="0"/>
          </a:p>
        </p:txBody>
      </p:sp>
    </p:spTree>
    <p:extLst>
      <p:ext uri="{BB962C8B-B14F-4D97-AF65-F5344CB8AC3E}">
        <p14:creationId xmlns:p14="http://schemas.microsoft.com/office/powerpoint/2010/main" val="34820912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Citations</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93081331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250</TotalTime>
  <Words>451</Words>
  <Application>Microsoft Office PowerPoint</Application>
  <PresentationFormat>On-screen Show (4:3)</PresentationFormat>
  <Paragraphs>74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Georgia</vt:lpstr>
      <vt:lpstr>Times New Roman</vt:lpstr>
      <vt:lpstr>Trebuchet MS</vt:lpstr>
      <vt:lpstr>Wingdings 2</vt:lpstr>
      <vt:lpstr>Urban</vt:lpstr>
      <vt:lpstr>Emergent Research  in  Environmental Science</vt:lpstr>
      <vt:lpstr>Introduction</vt:lpstr>
      <vt:lpstr>PowerPoint Presentation</vt:lpstr>
      <vt:lpstr>Report #1</vt:lpstr>
      <vt:lpstr>Real Example</vt:lpstr>
      <vt:lpstr>Data Integration and Analysis</vt:lpstr>
      <vt:lpstr>Report #2</vt:lpstr>
      <vt:lpstr>Real example #2</vt:lpstr>
      <vt:lpstr>PowerPoint Presentation</vt:lpstr>
      <vt:lpstr>Report #3 / Workflow Technical Report</vt:lpstr>
      <vt:lpstr>Real Example #3 - jc</vt:lpstr>
      <vt:lpstr>Visualization</vt:lpstr>
      <vt:lpstr>Report #4</vt:lpstr>
      <vt:lpstr>Real life Example#4</vt:lpstr>
      <vt:lpstr>Future</vt:lpstr>
      <vt:lpstr>Relevance to our research</vt:lpstr>
      <vt:lpstr>Conclusion</vt:lpstr>
      <vt:lpstr>Questions?</vt:lpstr>
      <vt:lpstr>Citations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Endmember Spectral Mixture Analysis</dc:title>
  <dc:creator>Ceniceros, Julio E</dc:creator>
  <cp:lastModifiedBy>Ceniceros, Julio E</cp:lastModifiedBy>
  <cp:revision>28</cp:revision>
  <dcterms:created xsi:type="dcterms:W3CDTF">2017-02-09T17:45:14Z</dcterms:created>
  <dcterms:modified xsi:type="dcterms:W3CDTF">2017-03-22T18:28:04Z</dcterms:modified>
</cp:coreProperties>
</file>